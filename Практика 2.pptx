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9144000" cx="16256000"/>
  <p:notesSz cx="9144000" cy="16256000"/>
  <p:embeddedFontLst>
    <p:embeddedFont>
      <p:font typeface="Montserrat SemiBold"/>
      <p:regular r:id="rId14"/>
      <p:bold r:id="rId15"/>
      <p:italic r:id="rId16"/>
      <p:boldItalic r:id="rId17"/>
    </p:embeddedFont>
    <p:embeddedFont>
      <p:font typeface="Montserrat Black"/>
      <p:bold r:id="rId18"/>
      <p:boldItalic r:id="rId19"/>
    </p:embeddedFont>
    <p:embeddedFont>
      <p:font typeface="Montserrat"/>
      <p:regular r:id="rId20"/>
      <p:bold r:id="rId21"/>
      <p:italic r:id="rId22"/>
      <p:boldItalic r:id="rId23"/>
    </p:embeddedFont>
    <p:embeddedFont>
      <p:font typeface="Montserrat Medium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regular.fntdata"/><Relationship Id="rId22" Type="http://schemas.openxmlformats.org/officeDocument/2006/relationships/font" Target="fonts/Montserrat-italic.fntdata"/><Relationship Id="rId21" Type="http://schemas.openxmlformats.org/officeDocument/2006/relationships/font" Target="fonts/Montserrat-bold.fntdata"/><Relationship Id="rId24" Type="http://schemas.openxmlformats.org/officeDocument/2006/relationships/font" Target="fonts/MontserratMedium-regular.fntdata"/><Relationship Id="rId23" Type="http://schemas.openxmlformats.org/officeDocument/2006/relationships/font" Target="fonts/Montserrat-bold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MontserratMedium-italic.fntdata"/><Relationship Id="rId25" Type="http://schemas.openxmlformats.org/officeDocument/2006/relationships/font" Target="fonts/MontserratMedium-bold.fntdata"/><Relationship Id="rId27" Type="http://schemas.openxmlformats.org/officeDocument/2006/relationships/font" Target="fonts/MontserratMedium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font" Target="fonts/MontserratSemiBold-bold.fntdata"/><Relationship Id="rId14" Type="http://schemas.openxmlformats.org/officeDocument/2006/relationships/font" Target="fonts/MontserratSemiBold-regular.fntdata"/><Relationship Id="rId17" Type="http://schemas.openxmlformats.org/officeDocument/2006/relationships/font" Target="fonts/MontserratSemiBold-boldItalic.fntdata"/><Relationship Id="rId16" Type="http://schemas.openxmlformats.org/officeDocument/2006/relationships/font" Target="fonts/MontserratSemiBold-italic.fntdata"/><Relationship Id="rId19" Type="http://schemas.openxmlformats.org/officeDocument/2006/relationships/font" Target="fonts/MontserratBlack-boldItalic.fntdata"/><Relationship Id="rId18" Type="http://schemas.openxmlformats.org/officeDocument/2006/relationships/font" Target="fonts/MontserratBlack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/>
              <a:t>‹#›</a:t>
            </a:fld>
            <a:endParaRPr b="0" i="0" sz="1200" u="none" cap="none" strike="noStrike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g3f5141f659f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g3f5141f659f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g3f5141f659f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g3f3a57b3ad7_2_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" name="Google Shape;23;g3f3a57b3ad7_2_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g3f3a57b3ad7_2_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g3f3a57b3ad7_2_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" name="Google Shape;42;g3f3a57b3ad7_2_4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g3f3a57b3ad7_2_4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f3a57b3ad7_2_6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g3f3a57b3ad7_2_6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g3f3a57b3ad7_2_6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f3a57b3ad7_2_8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" name="Google Shape;62;g3f3a57b3ad7_2_8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g3f3a57b3ad7_2_8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f3a4ef2538_0_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" name="Google Shape;77;g3f3a4ef2538_0_2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g3f3a4ef2538_0_2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f3a57b3ad7_0_5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" name="Google Shape;90;g3f3a57b3ad7_0_5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g3f3a57b3ad7_0_5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f3a57b3ad7_0_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" name="Google Shape;102;g3f3a57b3ad7_0_3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g3f3a57b3ad7_0_3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f3a57b3ad7_0_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" name="Google Shape;118;g3f3a57b3ad7_0_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g3f3a57b3ad7_0_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Relationship Id="rId4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Relationship Id="rId4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Relationship Id="rId4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Relationship Id="rId4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Relationship Id="rId4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/>
        </p:nvSpPr>
        <p:spPr>
          <a:xfrm>
            <a:off x="433800" y="5551345"/>
            <a:ext cx="12231600" cy="27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61900" lIns="123800" spcFirstLastPara="1" rIns="123800" wrap="square" tIns="619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5500">
                <a:solidFill>
                  <a:srgbClr val="71A7DE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Цифровой двойник GFS-X </a:t>
            </a:r>
            <a:endParaRPr sz="5500">
              <a:solidFill>
                <a:srgbClr val="71A7DE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5500">
                <a:solidFill>
                  <a:srgbClr val="71A7DE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в Unity</a:t>
            </a:r>
            <a:endParaRPr sz="5500">
              <a:solidFill>
                <a:srgbClr val="71A7DE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3000">
                <a:solidFill>
                  <a:srgbClr val="71A7DE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Сборка физической модели робота, кинематика гусеничного привода и виртуальные датчики</a:t>
            </a:r>
            <a:endParaRPr sz="3000">
              <a:solidFill>
                <a:srgbClr val="71A7DE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17" name="Google Shape;17;p3"/>
          <p:cNvSpPr txBox="1"/>
          <p:nvPr/>
        </p:nvSpPr>
        <p:spPr>
          <a:xfrm>
            <a:off x="3248339" y="465979"/>
            <a:ext cx="5605200" cy="875400"/>
          </a:xfrm>
          <a:prstGeom prst="rect">
            <a:avLst/>
          </a:prstGeom>
          <a:noFill/>
          <a:ln>
            <a:noFill/>
          </a:ln>
        </p:spPr>
        <p:txBody>
          <a:bodyPr anchorCtr="0" anchor="t" bIns="61900" lIns="123800" spcFirstLastPara="1" rIns="123800" wrap="square" tIns="619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38">
                <a:solidFill>
                  <a:srgbClr val="787878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Студкемп </a:t>
            </a:r>
            <a:br>
              <a:rPr lang="en-US" sz="2438">
                <a:solidFill>
                  <a:srgbClr val="787878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</a:br>
            <a:r>
              <a:rPr lang="en-US" sz="2438">
                <a:solidFill>
                  <a:srgbClr val="787878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Яндекс х УрФУ 2026</a:t>
            </a:r>
            <a:endParaRPr sz="1896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cxnSp>
        <p:nvCxnSpPr>
          <p:cNvPr id="18" name="Google Shape;18;p3"/>
          <p:cNvCxnSpPr/>
          <p:nvPr/>
        </p:nvCxnSpPr>
        <p:spPr>
          <a:xfrm>
            <a:off x="3620491" y="393977"/>
            <a:ext cx="2430600" cy="14700"/>
          </a:xfrm>
          <a:prstGeom prst="straightConnector1">
            <a:avLst/>
          </a:prstGeom>
          <a:noFill/>
          <a:ln cap="flat" cmpd="sng" w="17200">
            <a:solidFill>
              <a:srgbClr val="78787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" name="Google Shape;19;p3"/>
          <p:cNvCxnSpPr/>
          <p:nvPr/>
        </p:nvCxnSpPr>
        <p:spPr>
          <a:xfrm>
            <a:off x="3620489" y="1398452"/>
            <a:ext cx="2430600" cy="0"/>
          </a:xfrm>
          <a:prstGeom prst="straightConnector1">
            <a:avLst/>
          </a:prstGeom>
          <a:noFill/>
          <a:ln cap="flat" cmpd="sng" w="17200">
            <a:solidFill>
              <a:srgbClr val="78787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" name="Google Shape;20;p3"/>
          <p:cNvSpPr txBox="1"/>
          <p:nvPr/>
        </p:nvSpPr>
        <p:spPr>
          <a:xfrm>
            <a:off x="433800" y="4929065"/>
            <a:ext cx="15378600" cy="5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61900" lIns="123800" spcFirstLastPara="1" rIns="123800" wrap="square" tIns="619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979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ПРАКТИКА 2</a:t>
            </a:r>
            <a:endParaRPr sz="2979">
              <a:solidFill>
                <a:srgbClr val="3F3F3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615138" y="2814900"/>
            <a:ext cx="4900800" cy="35142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4"/>
          <p:cNvSpPr txBox="1"/>
          <p:nvPr/>
        </p:nvSpPr>
        <p:spPr>
          <a:xfrm>
            <a:off x="578399" y="591167"/>
            <a:ext cx="128613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4300">
                <a:solidFill>
                  <a:srgbClr val="71A7DE"/>
                </a:solidFill>
                <a:latin typeface="Montserrat"/>
                <a:ea typeface="Montserrat"/>
                <a:cs typeface="Montserrat"/>
                <a:sym typeface="Montserrat"/>
              </a:rPr>
              <a:t>План действий: Практика 2</a:t>
            </a:r>
            <a:endParaRPr b="1" sz="4300">
              <a:solidFill>
                <a:srgbClr val="71A7DE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8" name="Google Shape;28;p4"/>
          <p:cNvCxnSpPr/>
          <p:nvPr/>
        </p:nvCxnSpPr>
        <p:spPr>
          <a:xfrm>
            <a:off x="578403" y="1477217"/>
            <a:ext cx="7164900" cy="0"/>
          </a:xfrm>
          <a:prstGeom prst="straightConnector1">
            <a:avLst/>
          </a:prstGeom>
          <a:noFill/>
          <a:ln cap="flat" cmpd="sng" w="16925">
            <a:solidFill>
              <a:srgbClr val="78787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" name="Google Shape;29;p4"/>
          <p:cNvSpPr txBox="1"/>
          <p:nvPr/>
        </p:nvSpPr>
        <p:spPr>
          <a:xfrm>
            <a:off x="853133" y="3780300"/>
            <a:ext cx="4424700" cy="17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0" spcFirstLastPara="1" rIns="121900" wrap="square" tIns="121900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404040"/>
                </a:solidFill>
                <a:latin typeface="Montserrat"/>
                <a:ea typeface="Montserrat"/>
                <a:cs typeface="Montserrat"/>
                <a:sym typeface="Montserrat"/>
              </a:rPr>
              <a:t>Импортируем 3D-модель (FBX), добавим Rigidbody и настроим корректное распределение массы.</a:t>
            </a:r>
            <a:endParaRPr sz="2000">
              <a:solidFill>
                <a:srgbClr val="40404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" name="Google Shape;30;p4"/>
          <p:cNvSpPr txBox="1"/>
          <p:nvPr/>
        </p:nvSpPr>
        <p:spPr>
          <a:xfrm>
            <a:off x="853133" y="3164700"/>
            <a:ext cx="4424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0" spcFirstLastPara="1" rIns="121900" wrap="square" tIns="121900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5B9BD5"/>
                </a:solidFill>
                <a:latin typeface="Montserrat"/>
                <a:ea typeface="Montserrat"/>
                <a:cs typeface="Montserrat"/>
                <a:sym typeface="Montserrat"/>
              </a:rPr>
              <a:t>1. Базовая физика</a:t>
            </a:r>
            <a:endParaRPr b="1" sz="2400">
              <a:solidFill>
                <a:srgbClr val="5B9BD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" name="Google Shape;31;p4"/>
          <p:cNvSpPr txBox="1"/>
          <p:nvPr/>
        </p:nvSpPr>
        <p:spPr>
          <a:xfrm>
            <a:off x="853133" y="5494633"/>
            <a:ext cx="4424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0" spcFirstLastPara="1" rIns="121900" wrap="square" tIns="121900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5B9BD5"/>
                </a:solidFill>
                <a:latin typeface="Montserrat"/>
                <a:ea typeface="Montserrat"/>
                <a:cs typeface="Montserrat"/>
                <a:sym typeface="Montserrat"/>
              </a:rPr>
              <a:t>RIGIDBODY &amp; МАССА</a:t>
            </a:r>
            <a:endParaRPr b="1" sz="2000">
              <a:solidFill>
                <a:srgbClr val="5B9BD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5677601" y="2814900"/>
            <a:ext cx="4900800" cy="35142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4"/>
          <p:cNvSpPr txBox="1"/>
          <p:nvPr/>
        </p:nvSpPr>
        <p:spPr>
          <a:xfrm>
            <a:off x="5915602" y="3780300"/>
            <a:ext cx="4424700" cy="17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0" spcFirstLastPara="1" rIns="121900" wrap="square" tIns="121900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404040"/>
                </a:solidFill>
                <a:latin typeface="Montserrat"/>
                <a:ea typeface="Montserrat"/>
                <a:cs typeface="Montserrat"/>
                <a:sym typeface="Montserrat"/>
              </a:rPr>
              <a:t>Создадим TrackController, реализуем формулу смешивания скоростей и калибровку разгона.</a:t>
            </a:r>
            <a:endParaRPr sz="2000">
              <a:solidFill>
                <a:srgbClr val="40404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" name="Google Shape;34;p4"/>
          <p:cNvSpPr txBox="1"/>
          <p:nvPr/>
        </p:nvSpPr>
        <p:spPr>
          <a:xfrm>
            <a:off x="5915602" y="3164700"/>
            <a:ext cx="4424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0" spcFirstLastPara="1" rIns="121900" wrap="square" tIns="121900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5B9BD5"/>
                </a:solidFill>
                <a:latin typeface="Montserrat"/>
                <a:ea typeface="Montserrat"/>
                <a:cs typeface="Montserrat"/>
                <a:sym typeface="Montserrat"/>
              </a:rPr>
              <a:t>2. Движение и Моторы</a:t>
            </a:r>
            <a:endParaRPr b="1" sz="2400">
              <a:solidFill>
                <a:srgbClr val="5B9BD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5" name="Google Shape;35;p4"/>
          <p:cNvSpPr txBox="1"/>
          <p:nvPr/>
        </p:nvSpPr>
        <p:spPr>
          <a:xfrm>
            <a:off x="5915602" y="5494633"/>
            <a:ext cx="4424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0" spcFirstLastPara="1" rIns="121900" wrap="square" tIns="121900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5B9BD5"/>
                </a:solidFill>
                <a:latin typeface="Montserrat"/>
                <a:ea typeface="Montserrat"/>
                <a:cs typeface="Montserrat"/>
                <a:sym typeface="Montserrat"/>
              </a:rPr>
              <a:t>СМЕШИВАНИЕ СКОРОСТЕЙ</a:t>
            </a:r>
            <a:endParaRPr b="1" sz="2000">
              <a:solidFill>
                <a:srgbClr val="5B9BD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10740064" y="2814900"/>
            <a:ext cx="4900800" cy="35142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4"/>
          <p:cNvSpPr txBox="1"/>
          <p:nvPr/>
        </p:nvSpPr>
        <p:spPr>
          <a:xfrm>
            <a:off x="10978070" y="3780300"/>
            <a:ext cx="4424700" cy="17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0" spcFirstLastPara="1" rIns="121900" wrap="square" tIns="121900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404040"/>
                </a:solidFill>
                <a:latin typeface="Montserrat"/>
                <a:ea typeface="Montserrat"/>
                <a:cs typeface="Montserrat"/>
                <a:sym typeface="Montserrat"/>
              </a:rPr>
              <a:t>Разместим ИК и УЗ датчики, настроим камеру и свяжем робота с ROS посредством TCP моста.</a:t>
            </a:r>
            <a:endParaRPr sz="2000">
              <a:solidFill>
                <a:srgbClr val="40404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" name="Google Shape;38;p4"/>
          <p:cNvSpPr txBox="1"/>
          <p:nvPr/>
        </p:nvSpPr>
        <p:spPr>
          <a:xfrm>
            <a:off x="10978070" y="3164700"/>
            <a:ext cx="4424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0" spcFirstLastPara="1" rIns="121900" wrap="square" tIns="121900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5B9BD5"/>
                </a:solidFill>
                <a:latin typeface="Montserrat"/>
                <a:ea typeface="Montserrat"/>
                <a:cs typeface="Montserrat"/>
                <a:sym typeface="Montserrat"/>
              </a:rPr>
              <a:t>3. Сенсоры и ROS</a:t>
            </a:r>
            <a:endParaRPr b="1" sz="2400">
              <a:solidFill>
                <a:srgbClr val="5B9BD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" name="Google Shape;39;p4"/>
          <p:cNvSpPr txBox="1"/>
          <p:nvPr/>
        </p:nvSpPr>
        <p:spPr>
          <a:xfrm>
            <a:off x="10978070" y="5494633"/>
            <a:ext cx="4424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0" spcFirstLastPara="1" rIns="121900" wrap="square" tIns="121900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5B9BD5"/>
                </a:solidFill>
                <a:latin typeface="Montserrat"/>
                <a:ea typeface="Montserrat"/>
                <a:cs typeface="Montserrat"/>
                <a:sym typeface="Montserrat"/>
              </a:rPr>
              <a:t>VIRTUALSENSORS </a:t>
            </a:r>
            <a:endParaRPr b="1" sz="2000">
              <a:solidFill>
                <a:srgbClr val="5B9BD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5"/>
          <p:cNvSpPr txBox="1"/>
          <p:nvPr/>
        </p:nvSpPr>
        <p:spPr>
          <a:xfrm>
            <a:off x="578399" y="591167"/>
            <a:ext cx="128613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4300">
                <a:solidFill>
                  <a:srgbClr val="71A7DE"/>
                </a:solidFill>
                <a:latin typeface="Montserrat"/>
                <a:ea typeface="Montserrat"/>
                <a:cs typeface="Montserrat"/>
                <a:sym typeface="Montserrat"/>
              </a:rPr>
              <a:t>Физика корпуса &amp; Rigidbody</a:t>
            </a:r>
            <a:endParaRPr b="1" sz="4300">
              <a:solidFill>
                <a:srgbClr val="71A7DE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46" name="Google Shape;46;p5"/>
          <p:cNvCxnSpPr/>
          <p:nvPr/>
        </p:nvCxnSpPr>
        <p:spPr>
          <a:xfrm>
            <a:off x="578403" y="1477217"/>
            <a:ext cx="7164900" cy="0"/>
          </a:xfrm>
          <a:prstGeom prst="straightConnector1">
            <a:avLst/>
          </a:prstGeom>
          <a:noFill/>
          <a:ln cap="flat" cmpd="sng" w="16925">
            <a:solidFill>
              <a:srgbClr val="78787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7" name="Google Shape;47;p5"/>
          <p:cNvSpPr txBox="1"/>
          <p:nvPr/>
        </p:nvSpPr>
        <p:spPr>
          <a:xfrm>
            <a:off x="578400" y="1936003"/>
            <a:ext cx="77991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0" spcFirstLastPara="1" rIns="121900" wrap="square" tIns="121900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5B9BD5"/>
                </a:solidFill>
                <a:latin typeface="Montserrat"/>
                <a:ea typeface="Montserrat"/>
                <a:cs typeface="Montserrat"/>
                <a:sym typeface="Montserrat"/>
              </a:rPr>
              <a:t>Основные свойства Rigidbody</a:t>
            </a:r>
            <a:endParaRPr b="1" sz="2200">
              <a:solidFill>
                <a:srgbClr val="5B9BD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8" name="Google Shape;48;p5"/>
          <p:cNvSpPr txBox="1"/>
          <p:nvPr/>
        </p:nvSpPr>
        <p:spPr>
          <a:xfrm>
            <a:off x="578400" y="2675578"/>
            <a:ext cx="7799100" cy="41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0" spcFirstLastPara="1" rIns="121900" wrap="square" tIns="121900">
            <a:spAutoFit/>
          </a:bodyPr>
          <a:lstStyle/>
          <a:p>
            <a:pPr indent="-3556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000"/>
              <a:buFont typeface="Montserrat"/>
              <a:buChar char="●"/>
            </a:pPr>
            <a:r>
              <a:rPr b="1" lang="en-US" sz="2000">
                <a:solidFill>
                  <a:srgbClr val="5B9BD5"/>
                </a:solidFill>
                <a:latin typeface="Montserrat"/>
                <a:ea typeface="Montserrat"/>
                <a:cs typeface="Montserrat"/>
                <a:sym typeface="Montserrat"/>
              </a:rPr>
              <a:t>Реалистичная масса: </a:t>
            </a:r>
            <a:r>
              <a:rPr lang="en-US" sz="2000">
                <a:solidFill>
                  <a:srgbClr val="404040"/>
                </a:solidFill>
                <a:latin typeface="Montserrat"/>
                <a:ea typeface="Montserrat"/>
                <a:cs typeface="Montserrat"/>
                <a:sym typeface="Montserrat"/>
              </a:rPr>
              <a:t>Выставляем массу в 2.5 кг (эквивалентно реальному весу GFS-X).</a:t>
            </a:r>
            <a:endParaRPr sz="2000">
              <a:solidFill>
                <a:srgbClr val="40404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556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000"/>
              <a:buFont typeface="Montserrat"/>
              <a:buChar char="●"/>
            </a:pPr>
            <a:r>
              <a:rPr b="1" lang="en-US" sz="2000">
                <a:solidFill>
                  <a:srgbClr val="5B9BD5"/>
                </a:solidFill>
                <a:latin typeface="Montserrat"/>
                <a:ea typeface="Montserrat"/>
                <a:cs typeface="Montserrat"/>
                <a:sym typeface="Montserrat"/>
              </a:rPr>
              <a:t>Заморозка вращения: </a:t>
            </a:r>
            <a:r>
              <a:rPr lang="en-US" sz="2000">
                <a:solidFill>
                  <a:srgbClr val="404040"/>
                </a:solidFill>
                <a:latin typeface="Montserrat"/>
                <a:ea typeface="Montserrat"/>
                <a:cs typeface="Montserrat"/>
                <a:sym typeface="Montserrat"/>
              </a:rPr>
              <a:t>Активируем параметр Freeze Rotation X &amp; Z.</a:t>
            </a:r>
            <a:endParaRPr sz="2000">
              <a:solidFill>
                <a:srgbClr val="40404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556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000"/>
              <a:buFont typeface="Montserrat"/>
              <a:buChar char="●"/>
            </a:pPr>
            <a:r>
              <a:rPr b="1" lang="en-US" sz="2000">
                <a:solidFill>
                  <a:srgbClr val="5B9BD5"/>
                </a:solidFill>
                <a:latin typeface="Montserrat"/>
                <a:ea typeface="Montserrat"/>
                <a:cs typeface="Montserrat"/>
                <a:sym typeface="Montserrat"/>
              </a:rPr>
              <a:t>Устойчивость: </a:t>
            </a:r>
            <a:r>
              <a:rPr lang="en-US" sz="2000">
                <a:solidFill>
                  <a:srgbClr val="404040"/>
                </a:solidFill>
                <a:latin typeface="Montserrat"/>
                <a:ea typeface="Montserrat"/>
                <a:cs typeface="Montserrat"/>
                <a:sym typeface="Montserrat"/>
              </a:rPr>
              <a:t>Блокировка вращения защищает робота от опрокидывания при наездах на препятствия в лабиринте.</a:t>
            </a:r>
            <a:endParaRPr sz="2000">
              <a:solidFill>
                <a:srgbClr val="40404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556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000"/>
              <a:buFont typeface="Montserrat"/>
              <a:buChar char="●"/>
            </a:pPr>
            <a:r>
              <a:rPr b="1" lang="en-US" sz="2000">
                <a:solidFill>
                  <a:srgbClr val="5B9BD5"/>
                </a:solidFill>
                <a:latin typeface="Montserrat"/>
                <a:ea typeface="Montserrat"/>
                <a:cs typeface="Montserrat"/>
                <a:sym typeface="Montserrat"/>
              </a:rPr>
              <a:t>Тестирование инерции: </a:t>
            </a:r>
            <a:r>
              <a:rPr lang="en-US" sz="2000">
                <a:solidFill>
                  <a:srgbClr val="404040"/>
                </a:solidFill>
                <a:latin typeface="Montserrat"/>
                <a:ea typeface="Montserrat"/>
                <a:cs typeface="Montserrat"/>
                <a:sym typeface="Montserrat"/>
              </a:rPr>
              <a:t>Можно динамически изменять массу для проверки сходимости алгоритмов.</a:t>
            </a:r>
            <a:endParaRPr sz="2000">
              <a:solidFill>
                <a:srgbClr val="40404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9" name="Google Shape;49;p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649676" y="1936000"/>
            <a:ext cx="4726725" cy="6588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6"/>
          <p:cNvSpPr txBox="1"/>
          <p:nvPr/>
        </p:nvSpPr>
        <p:spPr>
          <a:xfrm>
            <a:off x="578399" y="591167"/>
            <a:ext cx="128613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4300">
                <a:solidFill>
                  <a:srgbClr val="71A7DE"/>
                </a:solidFill>
                <a:latin typeface="Montserrat"/>
                <a:ea typeface="Montserrat"/>
                <a:cs typeface="Montserrat"/>
                <a:sym typeface="Montserrat"/>
              </a:rPr>
              <a:t>Упрощенная коллизия</a:t>
            </a:r>
            <a:endParaRPr b="1" sz="4300">
              <a:solidFill>
                <a:srgbClr val="71A7DE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56" name="Google Shape;56;p6"/>
          <p:cNvCxnSpPr/>
          <p:nvPr/>
        </p:nvCxnSpPr>
        <p:spPr>
          <a:xfrm>
            <a:off x="578403" y="1477217"/>
            <a:ext cx="7164900" cy="0"/>
          </a:xfrm>
          <a:prstGeom prst="straightConnector1">
            <a:avLst/>
          </a:prstGeom>
          <a:noFill/>
          <a:ln cap="flat" cmpd="sng" w="16925">
            <a:solidFill>
              <a:srgbClr val="78787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7" name="Google Shape;57;p6"/>
          <p:cNvSpPr txBox="1"/>
          <p:nvPr/>
        </p:nvSpPr>
        <p:spPr>
          <a:xfrm>
            <a:off x="578400" y="1936003"/>
            <a:ext cx="77991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0" spcFirstLastPara="1" rIns="121900" wrap="square" tIns="121900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5B9BD5"/>
                </a:solidFill>
                <a:latin typeface="Montserrat"/>
                <a:ea typeface="Montserrat"/>
                <a:cs typeface="Montserrat"/>
                <a:sym typeface="Montserrat"/>
              </a:rPr>
              <a:t>Почему без Wheel Colliders?</a:t>
            </a:r>
            <a:endParaRPr b="1" sz="2200">
              <a:solidFill>
                <a:srgbClr val="5B9BD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8" name="Google Shape;58;p6"/>
          <p:cNvSpPr txBox="1"/>
          <p:nvPr/>
        </p:nvSpPr>
        <p:spPr>
          <a:xfrm>
            <a:off x="578400" y="2675575"/>
            <a:ext cx="5691300" cy="41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0" spcFirstLastPara="1" rIns="121900" wrap="square" tIns="121900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404040"/>
                </a:solidFill>
                <a:latin typeface="Montserrat"/>
                <a:ea typeface="Montserrat"/>
                <a:cs typeface="Montserrat"/>
                <a:sym typeface="Montserrat"/>
              </a:rPr>
              <a:t>Стандартные колесные коллайдеры вызывают сильное дрожание и физическую нестабильность гусениц.</a:t>
            </a:r>
            <a:endParaRPr sz="2000">
              <a:solidFill>
                <a:srgbClr val="40404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556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000"/>
              <a:buFont typeface="Montserrat"/>
              <a:buChar char="●"/>
            </a:pPr>
            <a:r>
              <a:rPr b="1" lang="en-US" sz="2000">
                <a:solidFill>
                  <a:srgbClr val="5B9BD5"/>
                </a:solidFill>
                <a:latin typeface="Montserrat"/>
                <a:ea typeface="Montserrat"/>
                <a:cs typeface="Montserrat"/>
                <a:sym typeface="Montserrat"/>
              </a:rPr>
              <a:t>Плоское скольжение: </a:t>
            </a:r>
            <a:r>
              <a:rPr b="1" lang="en-US" sz="2000">
                <a:solidFill>
                  <a:srgbClr val="5B9BD5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000">
                <a:solidFill>
                  <a:srgbClr val="404040"/>
                </a:solidFill>
                <a:latin typeface="Montserrat"/>
                <a:ea typeface="Montserrat"/>
                <a:cs typeface="Montserrat"/>
                <a:sym typeface="Montserrat"/>
              </a:rPr>
              <a:t>Робот опирается на плоский невидимый коллайдер основания с низким трением.</a:t>
            </a:r>
            <a:endParaRPr sz="2000">
              <a:solidFill>
                <a:srgbClr val="40404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556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000"/>
              <a:buFont typeface="Montserrat"/>
              <a:buChar char="●"/>
            </a:pPr>
            <a:r>
              <a:rPr b="1" lang="en-US" sz="2000">
                <a:solidFill>
                  <a:srgbClr val="5B9BD5"/>
                </a:solidFill>
                <a:latin typeface="Montserrat"/>
                <a:ea typeface="Montserrat"/>
                <a:cs typeface="Montserrat"/>
                <a:sym typeface="Montserrat"/>
              </a:rPr>
              <a:t>Box Collider на корпусе:</a:t>
            </a:r>
            <a:r>
              <a:rPr b="1" lang="en-US" sz="2000">
                <a:solidFill>
                  <a:srgbClr val="5B9BD5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000">
                <a:solidFill>
                  <a:srgbClr val="404040"/>
                </a:solidFill>
                <a:latin typeface="Montserrat"/>
                <a:ea typeface="Montserrat"/>
                <a:cs typeface="Montserrat"/>
                <a:sym typeface="Montserrat"/>
              </a:rPr>
              <a:t>Защищает верхнюю часть робота при ударах о препятствия.</a:t>
            </a:r>
            <a:endParaRPr sz="2000">
              <a:solidFill>
                <a:srgbClr val="40404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59" name="Google Shape;59;p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10650" y="1910518"/>
            <a:ext cx="8772251" cy="5322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7"/>
          <p:cNvSpPr/>
          <p:nvPr/>
        </p:nvSpPr>
        <p:spPr>
          <a:xfrm>
            <a:off x="9550400" y="1955800"/>
            <a:ext cx="6286800" cy="2139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7"/>
          <p:cNvSpPr txBox="1"/>
          <p:nvPr/>
        </p:nvSpPr>
        <p:spPr>
          <a:xfrm>
            <a:off x="578399" y="591167"/>
            <a:ext cx="128613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4300">
                <a:solidFill>
                  <a:srgbClr val="71A7DE"/>
                </a:solidFill>
                <a:latin typeface="Montserrat"/>
                <a:ea typeface="Montserrat"/>
                <a:cs typeface="Montserrat"/>
                <a:sym typeface="Montserrat"/>
              </a:rPr>
              <a:t>Калибровка моторов Sim-to-Real</a:t>
            </a:r>
            <a:endParaRPr b="1" sz="4300">
              <a:solidFill>
                <a:srgbClr val="71A7DE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67" name="Google Shape;67;p7"/>
          <p:cNvCxnSpPr/>
          <p:nvPr/>
        </p:nvCxnSpPr>
        <p:spPr>
          <a:xfrm>
            <a:off x="578403" y="1477217"/>
            <a:ext cx="7164900" cy="0"/>
          </a:xfrm>
          <a:prstGeom prst="straightConnector1">
            <a:avLst/>
          </a:prstGeom>
          <a:noFill/>
          <a:ln cap="flat" cmpd="sng" w="16925">
            <a:solidFill>
              <a:srgbClr val="78787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8" name="Google Shape;68;p7"/>
          <p:cNvSpPr txBox="1"/>
          <p:nvPr/>
        </p:nvSpPr>
        <p:spPr>
          <a:xfrm>
            <a:off x="578400" y="1936003"/>
            <a:ext cx="7799100" cy="6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0" spcFirstLastPara="1" rIns="121900" wrap="square" tIns="121900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5B9BD5"/>
                </a:solidFill>
                <a:latin typeface="Montserrat"/>
                <a:ea typeface="Montserrat"/>
                <a:cs typeface="Montserrat"/>
                <a:sym typeface="Montserrat"/>
              </a:rPr>
              <a:t>Характеристика PWM разгона</a:t>
            </a:r>
            <a:endParaRPr b="1" sz="2500">
              <a:solidFill>
                <a:srgbClr val="5B9BD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image.png" id="69" name="Google Shape;69;p7"/>
          <p:cNvPicPr preferRelativeResize="0"/>
          <p:nvPr/>
        </p:nvPicPr>
        <p:blipFill rotWithShape="1">
          <a:blip r:embed="rId4">
            <a:alphaModFix/>
          </a:blip>
          <a:srcRect b="0" l="15119" r="19402" t="0"/>
          <a:stretch/>
        </p:blipFill>
        <p:spPr>
          <a:xfrm>
            <a:off x="578400" y="3025675"/>
            <a:ext cx="8747676" cy="388707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7"/>
          <p:cNvSpPr txBox="1"/>
          <p:nvPr/>
        </p:nvSpPr>
        <p:spPr>
          <a:xfrm>
            <a:off x="9875221" y="2147350"/>
            <a:ext cx="56373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rPr>
              <a:t>motorDeadzone (30)</a:t>
            </a:r>
            <a:endParaRPr b="1" sz="2000">
              <a:solidFill>
                <a:schemeClr val="accent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404040"/>
                </a:solidFill>
                <a:latin typeface="Montserrat"/>
                <a:ea typeface="Montserrat"/>
                <a:cs typeface="Montserrat"/>
                <a:sym typeface="Montserrat"/>
              </a:rPr>
              <a:t>Команды ниже порога отсекаются, моделируя сухое трение реального редуктора.</a:t>
            </a:r>
            <a:endParaRPr sz="2000">
              <a:solidFill>
                <a:srgbClr val="40404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1" name="Google Shape;71;p7"/>
          <p:cNvSpPr/>
          <p:nvPr/>
        </p:nvSpPr>
        <p:spPr>
          <a:xfrm>
            <a:off x="9550400" y="4281892"/>
            <a:ext cx="6286800" cy="2139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7"/>
          <p:cNvSpPr txBox="1"/>
          <p:nvPr/>
        </p:nvSpPr>
        <p:spPr>
          <a:xfrm>
            <a:off x="9875150" y="4505092"/>
            <a:ext cx="56373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rPr>
              <a:t>minMotorPwm (50)</a:t>
            </a:r>
            <a:endParaRPr b="1" sz="2000">
              <a:solidFill>
                <a:schemeClr val="accent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404040"/>
                </a:solidFill>
                <a:latin typeface="Montserrat"/>
                <a:ea typeface="Montserrat"/>
                <a:cs typeface="Montserrat"/>
                <a:sym typeface="Montserrat"/>
              </a:rPr>
              <a:t>Стартовый уровень мощности, необходимый для преодоления инерции покоя.</a:t>
            </a:r>
            <a:endParaRPr sz="2000">
              <a:solidFill>
                <a:srgbClr val="40404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3" name="Google Shape;73;p7"/>
          <p:cNvSpPr/>
          <p:nvPr/>
        </p:nvSpPr>
        <p:spPr>
          <a:xfrm>
            <a:off x="9550400" y="6607984"/>
            <a:ext cx="6286800" cy="2139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7"/>
          <p:cNvSpPr txBox="1"/>
          <p:nvPr/>
        </p:nvSpPr>
        <p:spPr>
          <a:xfrm>
            <a:off x="9875221" y="6831184"/>
            <a:ext cx="56373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rPr>
              <a:t>maxPwmStep (15)</a:t>
            </a:r>
            <a:endParaRPr b="1" sz="2000">
              <a:solidFill>
                <a:schemeClr val="accent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404040"/>
                </a:solidFill>
                <a:latin typeface="Montserrat"/>
                <a:ea typeface="Montserrat"/>
                <a:cs typeface="Montserrat"/>
                <a:sym typeface="Montserrat"/>
              </a:rPr>
              <a:t>Лимит изменения мощности </a:t>
            </a:r>
            <a:endParaRPr sz="2000">
              <a:solidFill>
                <a:srgbClr val="40404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404040"/>
                </a:solidFill>
                <a:latin typeface="Montserrat"/>
                <a:ea typeface="Montserrat"/>
                <a:cs typeface="Montserrat"/>
                <a:sym typeface="Montserrat"/>
              </a:rPr>
              <a:t>за один шаг симуляции для плавного разгона.</a:t>
            </a:r>
            <a:endParaRPr sz="2000">
              <a:solidFill>
                <a:srgbClr val="40404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8"/>
          <p:cNvSpPr txBox="1"/>
          <p:nvPr/>
        </p:nvSpPr>
        <p:spPr>
          <a:xfrm>
            <a:off x="578399" y="591167"/>
            <a:ext cx="128613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4300">
                <a:solidFill>
                  <a:srgbClr val="71A7DE"/>
                </a:solidFill>
                <a:latin typeface="Montserrat"/>
                <a:ea typeface="Montserrat"/>
                <a:cs typeface="Montserrat"/>
                <a:sym typeface="Montserrat"/>
              </a:rPr>
              <a:t>Лучевая сенсорика</a:t>
            </a:r>
            <a:endParaRPr b="1" sz="4300">
              <a:solidFill>
                <a:srgbClr val="71A7DE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 sz="4300">
              <a:solidFill>
                <a:srgbClr val="71A7DE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81" name="Google Shape;81;p8"/>
          <p:cNvCxnSpPr/>
          <p:nvPr/>
        </p:nvCxnSpPr>
        <p:spPr>
          <a:xfrm>
            <a:off x="578403" y="1477217"/>
            <a:ext cx="7164900" cy="0"/>
          </a:xfrm>
          <a:prstGeom prst="straightConnector1">
            <a:avLst/>
          </a:prstGeom>
          <a:noFill/>
          <a:ln cap="flat" cmpd="sng" w="16925">
            <a:solidFill>
              <a:srgbClr val="78787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2" name="Google Shape;82;p8"/>
          <p:cNvSpPr txBox="1"/>
          <p:nvPr/>
        </p:nvSpPr>
        <p:spPr>
          <a:xfrm>
            <a:off x="578400" y="1917501"/>
            <a:ext cx="5590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5B9BD5"/>
                </a:solidFill>
                <a:latin typeface="Montserrat"/>
                <a:ea typeface="Montserrat"/>
                <a:cs typeface="Montserrat"/>
                <a:sym typeface="Montserrat"/>
              </a:rPr>
              <a:t>VirtualSensors.cs</a:t>
            </a:r>
            <a:endParaRPr b="1" sz="2200">
              <a:solidFill>
                <a:srgbClr val="5B9BD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3" name="Google Shape;83;p8"/>
          <p:cNvSpPr txBox="1"/>
          <p:nvPr/>
        </p:nvSpPr>
        <p:spPr>
          <a:xfrm>
            <a:off x="578400" y="3916600"/>
            <a:ext cx="716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7625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71A7DE"/>
                </a:solidFill>
                <a:latin typeface="Montserrat"/>
                <a:ea typeface="Montserrat"/>
                <a:cs typeface="Montserrat"/>
                <a:sym typeface="Montserrat"/>
              </a:rPr>
              <a:t>CenterPoint: </a:t>
            </a:r>
            <a:r>
              <a:rPr lang="en-US" sz="200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ультразвуковой дальномер (вперед)</a:t>
            </a:r>
            <a:endParaRPr sz="2000">
              <a:solidFill>
                <a:srgbClr val="3F3F3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4" name="Google Shape;84;p8"/>
          <p:cNvSpPr txBox="1"/>
          <p:nvPr/>
        </p:nvSpPr>
        <p:spPr>
          <a:xfrm>
            <a:off x="578400" y="4371850"/>
            <a:ext cx="716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7625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71A7DE"/>
                </a:solidFill>
                <a:latin typeface="Montserrat"/>
                <a:ea typeface="Montserrat"/>
                <a:cs typeface="Montserrat"/>
                <a:sym typeface="Montserrat"/>
              </a:rPr>
              <a:t>Left/Right IR: </a:t>
            </a:r>
            <a:r>
              <a:rPr lang="en-US" sz="200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ИК-датчики стен (под углом)</a:t>
            </a:r>
            <a:endParaRPr sz="2000">
              <a:solidFill>
                <a:srgbClr val="3F3F3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5" name="Google Shape;85;p8"/>
          <p:cNvSpPr txBox="1"/>
          <p:nvPr/>
        </p:nvSpPr>
        <p:spPr>
          <a:xfrm>
            <a:off x="578400" y="4827100"/>
            <a:ext cx="716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7625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71A7DE"/>
                </a:solidFill>
                <a:latin typeface="Montserrat"/>
                <a:ea typeface="Montserrat"/>
                <a:cs typeface="Montserrat"/>
                <a:sym typeface="Montserrat"/>
              </a:rPr>
              <a:t>GripperIR: </a:t>
            </a:r>
            <a:r>
              <a:rPr lang="en-US" sz="200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датчик присутствия мяча внутри клешни</a:t>
            </a:r>
            <a:endParaRPr sz="2000">
              <a:solidFill>
                <a:srgbClr val="3F3F3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6" name="Google Shape;86;p8"/>
          <p:cNvSpPr txBox="1"/>
          <p:nvPr/>
        </p:nvSpPr>
        <p:spPr>
          <a:xfrm>
            <a:off x="578400" y="2696475"/>
            <a:ext cx="83310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Каждую физическую итерацию скрипт пускает лучи через </a:t>
            </a:r>
            <a:r>
              <a:rPr lang="en-US" sz="2000">
                <a:solidFill>
                  <a:srgbClr val="38BDF8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Physics.Raycast</a:t>
            </a:r>
            <a:r>
              <a:rPr lang="en-US" sz="200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 из четырех дочерних пустых объектов-якорей:</a:t>
            </a:r>
            <a:endParaRPr sz="2000">
              <a:solidFill>
                <a:srgbClr val="3F3F3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87" name="Google Shape;87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12145" y="3476328"/>
            <a:ext cx="7764655" cy="5108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9"/>
          <p:cNvSpPr txBox="1"/>
          <p:nvPr/>
        </p:nvSpPr>
        <p:spPr>
          <a:xfrm>
            <a:off x="578399" y="591167"/>
            <a:ext cx="128613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4300">
                <a:solidFill>
                  <a:srgbClr val="71A7DE"/>
                </a:solidFill>
                <a:latin typeface="Montserrat"/>
                <a:ea typeface="Montserrat"/>
                <a:cs typeface="Montserrat"/>
                <a:sym typeface="Montserrat"/>
              </a:rPr>
              <a:t>Камера и Имитация YOLO</a:t>
            </a:r>
            <a:endParaRPr b="1" sz="4300">
              <a:solidFill>
                <a:srgbClr val="71A7DE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94" name="Google Shape;94;p9"/>
          <p:cNvCxnSpPr/>
          <p:nvPr/>
        </p:nvCxnSpPr>
        <p:spPr>
          <a:xfrm>
            <a:off x="578403" y="1477217"/>
            <a:ext cx="7164900" cy="0"/>
          </a:xfrm>
          <a:prstGeom prst="straightConnector1">
            <a:avLst/>
          </a:prstGeom>
          <a:noFill/>
          <a:ln cap="flat" cmpd="sng" w="16925">
            <a:solidFill>
              <a:srgbClr val="78787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5" name="Google Shape;95;p9"/>
          <p:cNvSpPr txBox="1"/>
          <p:nvPr/>
        </p:nvSpPr>
        <p:spPr>
          <a:xfrm>
            <a:off x="578400" y="1917501"/>
            <a:ext cx="5590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5B9BD5"/>
                </a:solidFill>
                <a:latin typeface="Montserrat"/>
                <a:ea typeface="Montserrat"/>
                <a:cs typeface="Montserrat"/>
                <a:sym typeface="Montserrat"/>
              </a:rPr>
              <a:t>Имитация машинного зрения</a:t>
            </a:r>
            <a:endParaRPr b="1" sz="2200">
              <a:solidFill>
                <a:srgbClr val="5B9BD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6" name="Google Shape;96;p9"/>
          <p:cNvSpPr txBox="1"/>
          <p:nvPr/>
        </p:nvSpPr>
        <p:spPr>
          <a:xfrm>
            <a:off x="578400" y="2814600"/>
            <a:ext cx="7164900" cy="12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7625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71A7DE"/>
                </a:solidFill>
                <a:latin typeface="Montserrat"/>
                <a:ea typeface="Montserrat"/>
                <a:cs typeface="Montserrat"/>
                <a:sym typeface="Montserrat"/>
              </a:rPr>
              <a:t>Угол обзора 40°: </a:t>
            </a:r>
            <a:r>
              <a:rPr lang="en-US" sz="200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Поле зрения (FOV) виртуальной камеры точно соответствует линзе физического робота GFS-X.</a:t>
            </a:r>
            <a:endParaRPr sz="2000">
              <a:solidFill>
                <a:srgbClr val="3F3F3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7" name="Google Shape;97;p9"/>
          <p:cNvSpPr txBox="1"/>
          <p:nvPr/>
        </p:nvSpPr>
        <p:spPr>
          <a:xfrm>
            <a:off x="578400" y="4280975"/>
            <a:ext cx="7164900" cy="12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7625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71A7DE"/>
                </a:solidFill>
                <a:latin typeface="Montserrat"/>
                <a:ea typeface="Montserrat"/>
                <a:cs typeface="Montserrat"/>
                <a:sym typeface="Montserrat"/>
              </a:rPr>
              <a:t>WorldToViewportPoint: </a:t>
            </a:r>
            <a:r>
              <a:rPr lang="en-US" sz="200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Перевод трехмерных мировых координат центра мяча в относительные экранные координаты 2D кадра.</a:t>
            </a:r>
            <a:endParaRPr sz="2000">
              <a:solidFill>
                <a:srgbClr val="3F3F3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8" name="Google Shape;98;p9"/>
          <p:cNvSpPr txBox="1"/>
          <p:nvPr/>
        </p:nvSpPr>
        <p:spPr>
          <a:xfrm>
            <a:off x="578400" y="5747350"/>
            <a:ext cx="7164900" cy="12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7625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71A7DE"/>
                </a:solidFill>
                <a:latin typeface="Montserrat"/>
                <a:ea typeface="Montserrat"/>
                <a:cs typeface="Montserrat"/>
                <a:sym typeface="Montserrat"/>
              </a:rPr>
              <a:t>Проверка окклюзии: </a:t>
            </a:r>
            <a:r>
              <a:rPr lang="en-US" sz="200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Использование Raycast от камеры к мячу для проверки, не скрыт ли мяч препятствиями.</a:t>
            </a:r>
            <a:endParaRPr sz="2000">
              <a:solidFill>
                <a:srgbClr val="3F3F3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99" name="Google Shape;99;p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18850" y="1917499"/>
            <a:ext cx="7980851" cy="4579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0"/>
          <p:cNvSpPr txBox="1"/>
          <p:nvPr/>
        </p:nvSpPr>
        <p:spPr>
          <a:xfrm>
            <a:off x="578399" y="591167"/>
            <a:ext cx="128613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4300">
                <a:solidFill>
                  <a:srgbClr val="71A7DE"/>
                </a:solidFill>
                <a:latin typeface="Montserrat"/>
                <a:ea typeface="Montserrat"/>
                <a:cs typeface="Montserrat"/>
                <a:sym typeface="Montserrat"/>
              </a:rPr>
              <a:t>Логический захват клешнёй</a:t>
            </a:r>
            <a:endParaRPr b="1" sz="4300">
              <a:solidFill>
                <a:srgbClr val="71A7DE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06" name="Google Shape;106;p10"/>
          <p:cNvCxnSpPr/>
          <p:nvPr/>
        </p:nvCxnSpPr>
        <p:spPr>
          <a:xfrm>
            <a:off x="578403" y="1477217"/>
            <a:ext cx="7164900" cy="0"/>
          </a:xfrm>
          <a:prstGeom prst="straightConnector1">
            <a:avLst/>
          </a:prstGeom>
          <a:noFill/>
          <a:ln cap="flat" cmpd="sng" w="16925">
            <a:solidFill>
              <a:srgbClr val="787878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image.png" id="107" name="Google Shape;107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67725" y="3596500"/>
            <a:ext cx="3964932" cy="4073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8" name="Google Shape;108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45450" y="3596500"/>
            <a:ext cx="3965099" cy="4073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9" name="Google Shape;109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323343" y="3596500"/>
            <a:ext cx="3964932" cy="4073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0"/>
          <p:cNvSpPr txBox="1"/>
          <p:nvPr/>
        </p:nvSpPr>
        <p:spPr>
          <a:xfrm>
            <a:off x="2960454" y="4014006"/>
            <a:ext cx="1979400" cy="6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11" u="none" cap="none" strike="noStrike">
                <a:solidFill>
                  <a:srgbClr val="5B9BD5"/>
                </a:solidFill>
                <a:latin typeface="Montserrat"/>
                <a:ea typeface="Montserrat"/>
                <a:cs typeface="Montserrat"/>
                <a:sym typeface="Montserrat"/>
              </a:rPr>
              <a:t>1. Детекция в клешне</a:t>
            </a:r>
            <a:endParaRPr b="1" sz="2011">
              <a:solidFill>
                <a:srgbClr val="5B9BD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1" name="Google Shape;111;p10"/>
          <p:cNvSpPr txBox="1"/>
          <p:nvPr/>
        </p:nvSpPr>
        <p:spPr>
          <a:xfrm>
            <a:off x="2297596" y="4978535"/>
            <a:ext cx="3305100" cy="15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787" u="none" cap="none" strike="noStrike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Когда мяч попадает в створ захвата и датчик</a:t>
            </a:r>
            <a:br>
              <a:rPr lang="en-US" sz="1787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i="0" lang="en-US" sz="1787" u="none" cap="none" strike="noStrike">
                <a:solidFill>
                  <a:srgbClr val="38BDF8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gripperIR == 1</a:t>
            </a:r>
            <a:r>
              <a:rPr i="0" lang="en-US" sz="1787" u="none" cap="none" strike="noStrike">
                <a:solidFill>
                  <a:srgbClr val="38BDF8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i="0" lang="en-US" sz="1787" u="none" cap="none" strike="noStrike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выдает положительный сигнал...</a:t>
            </a:r>
            <a:endParaRPr sz="1787">
              <a:solidFill>
                <a:srgbClr val="3F3F3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2" name="Google Shape;112;p10"/>
          <p:cNvSpPr txBox="1"/>
          <p:nvPr/>
        </p:nvSpPr>
        <p:spPr>
          <a:xfrm>
            <a:off x="7069754" y="4014006"/>
            <a:ext cx="2116200" cy="6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11" u="none" cap="none" strike="noStrike">
                <a:solidFill>
                  <a:srgbClr val="5B9BD5"/>
                </a:solidFill>
                <a:latin typeface="Montserrat"/>
                <a:ea typeface="Montserrat"/>
                <a:cs typeface="Montserrat"/>
                <a:sym typeface="Montserrat"/>
              </a:rPr>
              <a:t>2. Отключение физики</a:t>
            </a:r>
            <a:endParaRPr b="1" sz="2011">
              <a:solidFill>
                <a:srgbClr val="5B9BD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3" name="Google Shape;113;p10"/>
          <p:cNvSpPr txBox="1"/>
          <p:nvPr/>
        </p:nvSpPr>
        <p:spPr>
          <a:xfrm>
            <a:off x="6475321" y="4978535"/>
            <a:ext cx="3305400" cy="233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787" u="none" cap="none" strike="noStrike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Переводим Rigidbody мяча в режим </a:t>
            </a:r>
            <a:r>
              <a:rPr i="0" lang="en-US" sz="1787" u="none" cap="none" strike="noStrike">
                <a:solidFill>
                  <a:srgbClr val="38BDF8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isKinematic = true </a:t>
            </a:r>
            <a:r>
              <a:rPr i="0" lang="en-US" sz="1787" u="none" cap="none" strike="noStrike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и отключаем коллайдер, чтобы предотвратить дрожание и выскальзывание.</a:t>
            </a:r>
            <a:endParaRPr sz="1787">
              <a:solidFill>
                <a:srgbClr val="3F3F3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4" name="Google Shape;114;p10"/>
          <p:cNvSpPr txBox="1"/>
          <p:nvPr/>
        </p:nvSpPr>
        <p:spPr>
          <a:xfrm>
            <a:off x="11028403" y="4014006"/>
            <a:ext cx="2554800" cy="6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11" u="none" cap="none" strike="noStrike">
                <a:solidFill>
                  <a:srgbClr val="5B9BD5"/>
                </a:solidFill>
                <a:latin typeface="Montserrat"/>
                <a:ea typeface="Montserrat"/>
                <a:cs typeface="Montserrat"/>
                <a:sym typeface="Montserrat"/>
              </a:rPr>
              <a:t>3. parenting (Связывание)</a:t>
            </a:r>
            <a:endParaRPr b="1" sz="2011">
              <a:solidFill>
                <a:srgbClr val="5B9BD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5" name="Google Shape;115;p10"/>
          <p:cNvSpPr txBox="1"/>
          <p:nvPr/>
        </p:nvSpPr>
        <p:spPr>
          <a:xfrm>
            <a:off x="10653214" y="4978535"/>
            <a:ext cx="3305100" cy="19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787" u="none" cap="none" strike="noStrike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Трансформ мяча жестко привязывается (</a:t>
            </a:r>
            <a:r>
              <a:rPr i="0" lang="en-US" sz="1787" u="none" cap="none" strike="noStrike">
                <a:solidFill>
                  <a:srgbClr val="38BDF8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SetParent</a:t>
            </a:r>
            <a:r>
              <a:rPr i="0" lang="en-US" sz="1787" u="none" cap="none" strike="noStrike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) к объекту </a:t>
            </a:r>
            <a:r>
              <a:rPr i="0" lang="en-US" sz="1787" u="none" cap="none" strike="noStrike">
                <a:solidFill>
                  <a:srgbClr val="38BDF8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HoldPoint</a:t>
            </a:r>
            <a:r>
              <a:rPr i="0" lang="en-US" sz="1787" u="none" cap="none" strike="noStrike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, заставляя его двигаться вместе с клешней.</a:t>
            </a:r>
            <a:endParaRPr sz="1787">
              <a:solidFill>
                <a:srgbClr val="3F3F3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1"/>
          <p:cNvSpPr txBox="1"/>
          <p:nvPr/>
        </p:nvSpPr>
        <p:spPr>
          <a:xfrm>
            <a:off x="578399" y="591167"/>
            <a:ext cx="128613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4300">
                <a:solidFill>
                  <a:srgbClr val="71A7DE"/>
                </a:solidFill>
                <a:latin typeface="Montserrat"/>
                <a:ea typeface="Montserrat"/>
                <a:cs typeface="Montserrat"/>
                <a:sym typeface="Montserrat"/>
              </a:rPr>
              <a:t>Связь с ROS через TCP</a:t>
            </a:r>
            <a:endParaRPr b="1" sz="4300">
              <a:solidFill>
                <a:srgbClr val="71A7DE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22" name="Google Shape;122;p11"/>
          <p:cNvCxnSpPr/>
          <p:nvPr/>
        </p:nvCxnSpPr>
        <p:spPr>
          <a:xfrm>
            <a:off x="578403" y="1477217"/>
            <a:ext cx="7164900" cy="0"/>
          </a:xfrm>
          <a:prstGeom prst="straightConnector1">
            <a:avLst/>
          </a:prstGeom>
          <a:noFill/>
          <a:ln cap="flat" cmpd="sng" w="16925">
            <a:solidFill>
              <a:srgbClr val="78787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3" name="Google Shape;123;p11"/>
          <p:cNvSpPr txBox="1"/>
          <p:nvPr/>
        </p:nvSpPr>
        <p:spPr>
          <a:xfrm>
            <a:off x="578400" y="1917501"/>
            <a:ext cx="5590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5B9BD5"/>
                </a:solidFill>
                <a:latin typeface="Montserrat"/>
                <a:ea typeface="Montserrat"/>
                <a:cs typeface="Montserrat"/>
                <a:sym typeface="Montserrat"/>
              </a:rPr>
              <a:t>Настройка ROS-TCP-Connector</a:t>
            </a:r>
            <a:endParaRPr b="1" sz="2200">
              <a:solidFill>
                <a:srgbClr val="5B9BD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4" name="Google Shape;124;p11"/>
          <p:cNvSpPr txBox="1"/>
          <p:nvPr/>
        </p:nvSpPr>
        <p:spPr>
          <a:xfrm>
            <a:off x="578400" y="2814600"/>
            <a:ext cx="75897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7625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71A7DE"/>
                </a:solidFill>
                <a:latin typeface="Montserrat"/>
                <a:ea typeface="Montserrat"/>
                <a:cs typeface="Montserrat"/>
                <a:sym typeface="Montserrat"/>
              </a:rPr>
              <a:t>Параметры связи:</a:t>
            </a:r>
            <a:r>
              <a:rPr i="0" lang="en-US" sz="2000" u="none" cap="none" strike="noStrike">
                <a:solidFill>
                  <a:srgbClr val="71A7DE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i="0" lang="en-US" sz="2000" u="none" cap="none" strike="noStrike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Перейдите в Robotics → ROS Settings и укажите локальный IP 127.0.0.1 и порт 10000.</a:t>
            </a:r>
            <a:endParaRPr sz="2000">
              <a:solidFill>
                <a:srgbClr val="3F3F3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5" name="Google Shape;125;p11"/>
          <p:cNvSpPr txBox="1"/>
          <p:nvPr/>
        </p:nvSpPr>
        <p:spPr>
          <a:xfrm>
            <a:off x="578400" y="3822100"/>
            <a:ext cx="7589700" cy="12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7625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71A7DE"/>
                </a:solidFill>
                <a:latin typeface="Montserrat"/>
                <a:ea typeface="Montserrat"/>
                <a:cs typeface="Montserrat"/>
                <a:sym typeface="Montserrat"/>
              </a:rPr>
              <a:t>Скрипт ROSBridge.cs:</a:t>
            </a:r>
            <a:r>
              <a:rPr i="0" lang="en-US" sz="2000" u="none" cap="none" strike="noStrike">
                <a:solidFill>
                  <a:srgbClr val="71A7DE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i="0" lang="en-US" sz="2000" u="none" cap="none" strike="noStrike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Добавлен на робота для управления передачей сообщений о скорости и сенсорике.</a:t>
            </a:r>
            <a:endParaRPr sz="2000">
              <a:solidFill>
                <a:srgbClr val="3F3F3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6" name="Google Shape;126;p11"/>
          <p:cNvSpPr txBox="1"/>
          <p:nvPr/>
        </p:nvSpPr>
        <p:spPr>
          <a:xfrm>
            <a:off x="578400" y="5291300"/>
            <a:ext cx="7589700" cy="12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7625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71A7DE"/>
                </a:solidFill>
                <a:latin typeface="Montserrat"/>
                <a:ea typeface="Montserrat"/>
                <a:cs typeface="Montserrat"/>
                <a:sym typeface="Montserrat"/>
              </a:rPr>
              <a:t>Интеграция команд:</a:t>
            </a:r>
            <a:r>
              <a:rPr i="0" lang="en-US" sz="2000" u="none" cap="none" strike="noStrike">
                <a:solidFill>
                  <a:srgbClr val="71A7DE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i="0" lang="en-US" sz="2000" u="none" cap="none" strike="noStrike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Команды скорости из топика /cmd_vel ROS транслируются прямо в Move-методы Rigidbody в Unity.</a:t>
            </a:r>
            <a:endParaRPr sz="2000">
              <a:solidFill>
                <a:srgbClr val="3F3F3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27" name="Google Shape;127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59196" y="1917495"/>
            <a:ext cx="7276425" cy="6170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